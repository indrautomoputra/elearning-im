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0" r:id="rId7"/>
    <p:sldId id="259" r:id="rId8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333F"/>
    <a:srgbClr val="011E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1176" y="-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8057F-B360-491A-8F74-1600B9BEC97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70D8-7E0F-46B1-9A31-45BCB3E0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00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8057F-B360-491A-8F74-1600B9BEC97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70D8-7E0F-46B1-9A31-45BCB3E0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7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8057F-B360-491A-8F74-1600B9BEC97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70D8-7E0F-46B1-9A31-45BCB3E0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731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8057F-B360-491A-8F74-1600B9BEC97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70D8-7E0F-46B1-9A31-45BCB3E0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41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8057F-B360-491A-8F74-1600B9BEC97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70D8-7E0F-46B1-9A31-45BCB3E0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08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8057F-B360-491A-8F74-1600B9BEC97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70D8-7E0F-46B1-9A31-45BCB3E0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86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8057F-B360-491A-8F74-1600B9BEC97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70D8-7E0F-46B1-9A31-45BCB3E0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807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8057F-B360-491A-8F74-1600B9BEC97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70D8-7E0F-46B1-9A31-45BCB3E0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76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8057F-B360-491A-8F74-1600B9BEC97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70D8-7E0F-46B1-9A31-45BCB3E0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508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8057F-B360-491A-8F74-1600B9BEC97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70D8-7E0F-46B1-9A31-45BCB3E0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177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8057F-B360-491A-8F74-1600B9BEC97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770D8-7E0F-46B1-9A31-45BCB3E0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8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8057F-B360-491A-8F74-1600B9BEC97D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4770D8-7E0F-46B1-9A31-45BCB3E04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813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3DBCA-D97D-4BD4-83EF-16DF6E5F3B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325" y="196795"/>
            <a:ext cx="4298983" cy="1097281"/>
          </a:xfrm>
        </p:spPr>
        <p:txBody>
          <a:bodyPr anchor="ctr">
            <a:noAutofit/>
          </a:bodyPr>
          <a:lstStyle/>
          <a:p>
            <a:pPr algn="l"/>
            <a:r>
              <a:rPr lang="en-US" sz="2000" i="1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SITUASION REPORT (SITREP)</a:t>
            </a:r>
            <a:br>
              <a:rPr lang="en-US" sz="2000" i="1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</a:br>
            <a:r>
              <a:rPr lang="en-US" sz="2000" b="1" dirty="0">
                <a:solidFill>
                  <a:srgbClr val="F5333F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BANJIR BANDANG </a:t>
            </a:r>
            <a:br>
              <a:rPr lang="en-US" sz="2000" b="1" dirty="0">
                <a:solidFill>
                  <a:srgbClr val="F5333F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</a:br>
            <a:r>
              <a:rPr lang="en-US" sz="2000" b="1" dirty="0">
                <a:solidFill>
                  <a:srgbClr val="F5333F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PROVINSI PADANGSAWIT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C4685A-2C73-490C-ABB2-BE10295CAF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208" y="196795"/>
            <a:ext cx="1885917" cy="1097280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BFFF89B8-5D1F-4BC8-9E6D-5C3FE72E7078}"/>
              </a:ext>
            </a:extLst>
          </p:cNvPr>
          <p:cNvSpPr txBox="1">
            <a:spLocks/>
          </p:cNvSpPr>
          <p:nvPr/>
        </p:nvSpPr>
        <p:spPr>
          <a:xfrm>
            <a:off x="857250" y="2138189"/>
            <a:ext cx="5143500" cy="2391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Assdaw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F9A1CB-2FEE-4458-9AAC-987371176948}"/>
              </a:ext>
            </a:extLst>
          </p:cNvPr>
          <p:cNvSpPr/>
          <p:nvPr/>
        </p:nvSpPr>
        <p:spPr>
          <a:xfrm>
            <a:off x="0" y="1491058"/>
            <a:ext cx="6858000" cy="324455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99A0BC1-2BBB-452E-88F3-59A8B2E850A3}"/>
              </a:ext>
            </a:extLst>
          </p:cNvPr>
          <p:cNvGrpSpPr/>
          <p:nvPr/>
        </p:nvGrpSpPr>
        <p:grpSpPr>
          <a:xfrm>
            <a:off x="146047" y="4906927"/>
            <a:ext cx="1558718" cy="1218901"/>
            <a:chOff x="314320" y="4689564"/>
            <a:chExt cx="1435107" cy="121890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728A504-FA2E-4497-A1A4-838E2139D5FB}"/>
                </a:ext>
              </a:extLst>
            </p:cNvPr>
            <p:cNvSpPr/>
            <p:nvPr/>
          </p:nvSpPr>
          <p:spPr>
            <a:xfrm>
              <a:off x="314326" y="4689564"/>
              <a:ext cx="1435100" cy="12159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itle 1">
              <a:extLst>
                <a:ext uri="{FF2B5EF4-FFF2-40B4-BE49-F238E27FC236}">
                  <a16:creationId xmlns:a16="http://schemas.microsoft.com/office/drawing/2014/main" id="{5199F4F6-C352-4523-AF98-73D1E8B4CA9F}"/>
                </a:ext>
              </a:extLst>
            </p:cNvPr>
            <p:cNvSpPr txBox="1">
              <a:spLocks/>
            </p:cNvSpPr>
            <p:nvPr/>
          </p:nvSpPr>
          <p:spPr>
            <a:xfrm>
              <a:off x="314325" y="4697940"/>
              <a:ext cx="1435102" cy="4460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txBody>
            <a:bodyPr vert="horz" lIns="91440" tIns="45720" rIns="91440" bIns="45720" rtlCol="0" anchor="ctr">
              <a:noAutofit/>
            </a:bodyPr>
            <a:lstStyle>
              <a:lvl1pPr algn="ctr" defTabSz="6858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5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en-US" sz="1100" b="1" dirty="0">
                  <a:solidFill>
                    <a:srgbClr val="011E41"/>
                  </a:solidFill>
                  <a:latin typeface="DIN Pro Black" panose="020B0A04020101010102" pitchFamily="34" charset="0"/>
                  <a:cs typeface="DIN Pro Black" panose="020B0A04020101010102" pitchFamily="34" charset="0"/>
                </a:rPr>
                <a:t>TOTAL</a:t>
              </a:r>
              <a:r>
                <a:rPr lang="id-ID" sz="1100" b="1" dirty="0">
                  <a:solidFill>
                    <a:srgbClr val="011E41"/>
                  </a:solidFill>
                  <a:latin typeface="DIN Pro Black" panose="020B0A04020101010102" pitchFamily="34" charset="0"/>
                  <a:cs typeface="DIN Pro Black" panose="020B0A04020101010102" pitchFamily="34" charset="0"/>
                </a:rPr>
                <a:t> #</a:t>
              </a:r>
              <a:r>
                <a:rPr lang="en-US" sz="1100" b="1" dirty="0">
                  <a:solidFill>
                    <a:srgbClr val="011E41"/>
                  </a:solidFill>
                  <a:latin typeface="DIN Pro Black" panose="020B0A04020101010102" pitchFamily="34" charset="0"/>
                  <a:cs typeface="DIN Pro Black" panose="020B0A04020101010102" pitchFamily="34" charset="0"/>
                </a:rPr>
                <a:t> </a:t>
              </a:r>
              <a:endParaRPr lang="id-ID" sz="1100" b="1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endParaRPr>
            </a:p>
            <a:p>
              <a:pPr algn="r"/>
              <a:r>
                <a:rPr lang="en-US" sz="1100" b="1" dirty="0">
                  <a:solidFill>
                    <a:srgbClr val="011E41"/>
                  </a:solidFill>
                  <a:latin typeface="DIN Pro Black" panose="020B0A04020101010102" pitchFamily="34" charset="0"/>
                  <a:cs typeface="DIN Pro Black" panose="020B0A04020101010102" pitchFamily="34" charset="0"/>
                </a:rPr>
                <a:t>POPULASI 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01C510C-DDB9-456C-AB93-81497FC46AB2}"/>
                </a:ext>
              </a:extLst>
            </p:cNvPr>
            <p:cNvSpPr txBox="1"/>
            <p:nvPr/>
          </p:nvSpPr>
          <p:spPr>
            <a:xfrm>
              <a:off x="314324" y="5149051"/>
              <a:ext cx="1435100" cy="61555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11E41"/>
                  </a:solidFill>
                  <a:latin typeface="DIN Pro Black" panose="020B0A04020101010102" pitchFamily="34" charset="0"/>
                  <a:cs typeface="DIN Pro Black" panose="020B0A04020101010102" pitchFamily="34" charset="0"/>
                </a:rPr>
                <a:t>3.421.860</a:t>
              </a:r>
            </a:p>
            <a:p>
              <a:pPr algn="ctr"/>
              <a:r>
                <a:rPr lang="en-US" sz="1400" i="1" dirty="0">
                  <a:solidFill>
                    <a:srgbClr val="F5333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Jiwa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A91B688-4B1C-4B83-B176-9C42242F66F4}"/>
                </a:ext>
              </a:extLst>
            </p:cNvPr>
            <p:cNvSpPr txBox="1"/>
            <p:nvPr/>
          </p:nvSpPr>
          <p:spPr>
            <a:xfrm>
              <a:off x="314320" y="5723799"/>
              <a:ext cx="1435100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600" dirty="0"/>
                <a:t>[</a:t>
              </a:r>
              <a:r>
                <a:rPr lang="en-US" sz="600" dirty="0" err="1"/>
                <a:t>Sumber</a:t>
              </a:r>
              <a:r>
                <a:rPr lang="id-ID" sz="600" dirty="0"/>
                <a:t>:</a:t>
              </a:r>
              <a:r>
                <a:rPr lang="en-US" sz="600" dirty="0"/>
                <a:t> Data BPS 2024]</a:t>
              </a:r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B85D52EE-5386-40FE-A93A-AA50C4D7F025}"/>
              </a:ext>
            </a:extLst>
          </p:cNvPr>
          <p:cNvSpPr/>
          <p:nvPr/>
        </p:nvSpPr>
        <p:spPr>
          <a:xfrm>
            <a:off x="1815115" y="4902963"/>
            <a:ext cx="1558710" cy="12159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CD74E9C2-81B2-4322-8105-4CADFDAF063B}"/>
              </a:ext>
            </a:extLst>
          </p:cNvPr>
          <p:cNvSpPr txBox="1">
            <a:spLocks/>
          </p:cNvSpPr>
          <p:nvPr/>
        </p:nvSpPr>
        <p:spPr>
          <a:xfrm>
            <a:off x="1815114" y="4911339"/>
            <a:ext cx="1558713" cy="44604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100" b="1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TOTAL </a:t>
            </a:r>
            <a:r>
              <a:rPr lang="id-ID" sz="1100" b="1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#</a:t>
            </a:r>
            <a:r>
              <a:rPr lang="en-US" sz="1100" b="1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JIWA</a:t>
            </a:r>
            <a:r>
              <a:rPr lang="id-ID" sz="1100" b="1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 </a:t>
            </a:r>
            <a:endParaRPr lang="en-US" sz="1100" b="1" dirty="0">
              <a:solidFill>
                <a:srgbClr val="011E41"/>
              </a:solidFill>
              <a:latin typeface="DIN Pro Black" panose="020B0A04020101010102" pitchFamily="34" charset="0"/>
              <a:cs typeface="DIN Pro Black" panose="020B0A04020101010102" pitchFamily="34" charset="0"/>
            </a:endParaRPr>
          </a:p>
          <a:p>
            <a:pPr algn="r"/>
            <a:r>
              <a:rPr lang="en-US" sz="1100" b="1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TERDAMPAK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C09D95-15B7-4B6A-B985-BABD5665AFE8}"/>
              </a:ext>
            </a:extLst>
          </p:cNvPr>
          <p:cNvSpPr txBox="1"/>
          <p:nvPr/>
        </p:nvSpPr>
        <p:spPr>
          <a:xfrm>
            <a:off x="1815110" y="5361786"/>
            <a:ext cx="155871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000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239.990</a:t>
            </a:r>
          </a:p>
          <a:p>
            <a:pPr algn="ctr"/>
            <a:r>
              <a:rPr lang="en-US" sz="1400" i="1" dirty="0">
                <a:solidFill>
                  <a:srgbClr val="F5333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Jiwa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5EE7B6-B2C9-4601-912B-54ACF966A0C8}"/>
              </a:ext>
            </a:extLst>
          </p:cNvPr>
          <p:cNvSpPr txBox="1"/>
          <p:nvPr/>
        </p:nvSpPr>
        <p:spPr>
          <a:xfrm>
            <a:off x="1815113" y="5938197"/>
            <a:ext cx="155871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6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BFE3A79-79A9-470D-AD87-040F39B96324}"/>
              </a:ext>
            </a:extLst>
          </p:cNvPr>
          <p:cNvSpPr/>
          <p:nvPr/>
        </p:nvSpPr>
        <p:spPr>
          <a:xfrm>
            <a:off x="3484177" y="4898999"/>
            <a:ext cx="1558711" cy="12159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itle 1">
            <a:extLst>
              <a:ext uri="{FF2B5EF4-FFF2-40B4-BE49-F238E27FC236}">
                <a16:creationId xmlns:a16="http://schemas.microsoft.com/office/drawing/2014/main" id="{30882EDD-160A-45E6-88B2-EE21B096F0AF}"/>
              </a:ext>
            </a:extLst>
          </p:cNvPr>
          <p:cNvSpPr txBox="1">
            <a:spLocks/>
          </p:cNvSpPr>
          <p:nvPr/>
        </p:nvSpPr>
        <p:spPr>
          <a:xfrm>
            <a:off x="3484176" y="4907375"/>
            <a:ext cx="1558713" cy="44604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100" b="1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TOTAL</a:t>
            </a:r>
            <a:r>
              <a:rPr lang="id-ID" sz="1100" b="1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 #</a:t>
            </a:r>
            <a:r>
              <a:rPr lang="en-US" sz="1100" b="1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 JIWA </a:t>
            </a:r>
          </a:p>
          <a:p>
            <a:pPr algn="r"/>
            <a:r>
              <a:rPr lang="en-US" sz="1100" b="1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PENGUNGSI 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B601A0-11F8-42E2-AB23-6E7A3E4D2C26}"/>
              </a:ext>
            </a:extLst>
          </p:cNvPr>
          <p:cNvSpPr txBox="1"/>
          <p:nvPr/>
        </p:nvSpPr>
        <p:spPr>
          <a:xfrm>
            <a:off x="3484175" y="5934233"/>
            <a:ext cx="155871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6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A09B24A-B79F-4AD2-8446-8DC4B6B739E6}"/>
              </a:ext>
            </a:extLst>
          </p:cNvPr>
          <p:cNvSpPr/>
          <p:nvPr/>
        </p:nvSpPr>
        <p:spPr>
          <a:xfrm>
            <a:off x="5153238" y="4895035"/>
            <a:ext cx="1558711" cy="12159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B6E07E79-C9AC-48B2-B4CC-FB3D8BD172A2}"/>
              </a:ext>
            </a:extLst>
          </p:cNvPr>
          <p:cNvSpPr txBox="1">
            <a:spLocks/>
          </p:cNvSpPr>
          <p:nvPr/>
        </p:nvSpPr>
        <p:spPr>
          <a:xfrm>
            <a:off x="5153237" y="4903411"/>
            <a:ext cx="1558713" cy="44604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900" b="1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TOTAL</a:t>
            </a:r>
            <a:r>
              <a:rPr lang="id-ID" sz="900" b="1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 #</a:t>
            </a:r>
            <a:r>
              <a:rPr lang="en-US" sz="900" b="1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 WILAYAH</a:t>
            </a:r>
            <a:r>
              <a:rPr lang="id-ID" sz="900" b="1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 </a:t>
            </a:r>
            <a:r>
              <a:rPr lang="en-US" sz="900" b="1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TERDAMPAK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CCE3AA-C24C-4465-8329-B25EA4D6915F}"/>
              </a:ext>
            </a:extLst>
          </p:cNvPr>
          <p:cNvSpPr txBox="1"/>
          <p:nvPr/>
        </p:nvSpPr>
        <p:spPr>
          <a:xfrm>
            <a:off x="5153236" y="5930269"/>
            <a:ext cx="155871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6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7530A3C-F6B0-4A65-B65F-93708C9A409A}"/>
              </a:ext>
            </a:extLst>
          </p:cNvPr>
          <p:cNvSpPr txBox="1"/>
          <p:nvPr/>
        </p:nvSpPr>
        <p:spPr>
          <a:xfrm>
            <a:off x="243840" y="9347443"/>
            <a:ext cx="34753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D-DIN-PRO Medium" panose="020B0504030202030204" pitchFamily="34" charset="0"/>
              </a:rPr>
              <a:t>production date: </a:t>
            </a:r>
            <a:r>
              <a:rPr lang="id-ID" sz="1000" dirty="0">
                <a:latin typeface="D-DIN-PRO Medium" panose="020B0504030202030204" pitchFamily="34" charset="0"/>
              </a:rPr>
              <a:t>4</a:t>
            </a:r>
            <a:r>
              <a:rPr lang="en-US" sz="1000" dirty="0">
                <a:latin typeface="D-DIN-PRO Medium" panose="020B0504030202030204" pitchFamily="34" charset="0"/>
              </a:rPr>
              <a:t>/</a:t>
            </a:r>
            <a:r>
              <a:rPr lang="id-ID" sz="1000" dirty="0">
                <a:latin typeface="D-DIN-PRO Medium" panose="020B0504030202030204" pitchFamily="34" charset="0"/>
              </a:rPr>
              <a:t>6/</a:t>
            </a:r>
            <a:r>
              <a:rPr lang="en-US" sz="1000" dirty="0">
                <a:latin typeface="D-DIN-PRO Medium" panose="020B0504030202030204" pitchFamily="34" charset="0"/>
              </a:rPr>
              <a:t>202</a:t>
            </a:r>
            <a:r>
              <a:rPr lang="id-ID" sz="1000" dirty="0">
                <a:latin typeface="D-DIN-PRO Medium" panose="020B0504030202030204" pitchFamily="34" charset="0"/>
              </a:rPr>
              <a:t>6</a:t>
            </a:r>
            <a:endParaRPr lang="en-US" sz="1000" dirty="0">
              <a:latin typeface="D-DIN-PRO Medium" panose="020B050403020203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1215474-FEBF-4F81-8786-2E8153B09C2E}"/>
              </a:ext>
            </a:extLst>
          </p:cNvPr>
          <p:cNvSpPr txBox="1"/>
          <p:nvPr/>
        </p:nvSpPr>
        <p:spPr>
          <a:xfrm>
            <a:off x="336548" y="6137909"/>
            <a:ext cx="30416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defTabSz="514350" rtl="0" fontAlgn="base">
              <a:tabLst>
                <a:tab pos="571500" algn="l"/>
              </a:tabLst>
            </a:pPr>
            <a:r>
              <a:rPr lang="en-US" sz="600" b="1" i="1" dirty="0" err="1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Sumber</a:t>
            </a:r>
            <a:r>
              <a:rPr lang="en-US" sz="600" b="1" i="1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 data :</a:t>
            </a:r>
            <a:r>
              <a:rPr lang="id-ID" sz="600" b="1" i="1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	</a:t>
            </a:r>
          </a:p>
          <a:p>
            <a:pPr algn="l" defTabSz="514350" rtl="0" fontAlgn="base">
              <a:tabLst>
                <a:tab pos="571500" algn="l"/>
              </a:tabLst>
            </a:pPr>
            <a:r>
              <a:rPr lang="id-ID" sz="600" b="0" i="1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1. </a:t>
            </a:r>
            <a:r>
              <a:rPr lang="en-US" sz="600" b="0" i="1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Rapid Assessment PMI</a:t>
            </a:r>
            <a:r>
              <a:rPr lang="en-US" sz="600" b="0" i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 </a:t>
            </a:r>
          </a:p>
          <a:p>
            <a:pPr algn="l" defTabSz="571500" rtl="0" fontAlgn="base">
              <a:tabLst>
                <a:tab pos="571500" algn="l"/>
              </a:tabLst>
            </a:pPr>
            <a:r>
              <a:rPr lang="id-ID" sz="600" b="0" i="1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2. </a:t>
            </a:r>
            <a:r>
              <a:rPr lang="en-US" sz="600" b="0" i="1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BPBD Prov. </a:t>
            </a:r>
            <a:r>
              <a:rPr lang="en-US" sz="600" b="0" i="1" dirty="0" err="1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Padangsawit</a:t>
            </a:r>
            <a:r>
              <a:rPr lang="en-US" sz="600" b="0" i="1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 2/3/2026 </a:t>
            </a:r>
            <a:r>
              <a:rPr lang="en-US" sz="600" b="0" i="1" dirty="0" err="1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pukul</a:t>
            </a:r>
            <a:r>
              <a:rPr lang="en-US" sz="600" b="0" i="1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 12:30 WIB</a:t>
            </a:r>
          </a:p>
          <a:p>
            <a:pPr algn="l" defTabSz="571500" rtl="0" fontAlgn="base">
              <a:tabLst>
                <a:tab pos="571500" algn="l"/>
              </a:tabLst>
            </a:pPr>
            <a:r>
              <a:rPr lang="en-US" sz="600" i="1" dirty="0">
                <a:solidFill>
                  <a:srgbClr val="000000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3. Wilayah </a:t>
            </a:r>
            <a:r>
              <a:rPr lang="en-US" sz="600" i="1" dirty="0" err="1">
                <a:solidFill>
                  <a:srgbClr val="000000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terdampak</a:t>
            </a:r>
            <a:r>
              <a:rPr lang="en-US" sz="600" i="1" dirty="0">
                <a:solidFill>
                  <a:srgbClr val="000000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 4 </a:t>
            </a:r>
            <a:r>
              <a:rPr lang="en-US" sz="600" i="1" dirty="0" err="1">
                <a:solidFill>
                  <a:srgbClr val="000000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Kabupaten</a:t>
            </a:r>
            <a:r>
              <a:rPr lang="en-US" sz="600" i="1" dirty="0">
                <a:solidFill>
                  <a:srgbClr val="000000"/>
                </a:solidFill>
                <a:latin typeface="Poppins Medium" panose="00000600000000000000" pitchFamily="2" charset="0"/>
                <a:cs typeface="Poppins Medium" panose="00000600000000000000" pitchFamily="2" charset="0"/>
              </a:rPr>
              <a:t>, 1 Kota </a:t>
            </a:r>
            <a:r>
              <a:rPr lang="en-US" sz="600" b="0" i="0" dirty="0">
                <a:solidFill>
                  <a:srgbClr val="000000"/>
                </a:solidFill>
                <a:effectLst/>
                <a:latin typeface="Poppins Medium" panose="00000600000000000000" pitchFamily="2" charset="0"/>
                <a:cs typeface="Poppins Medium" panose="00000600000000000000" pitchFamily="2" charset="0"/>
              </a:rPr>
              <a:t> 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DEB385F-BA62-4CCE-B6AA-C3D9FC471509}"/>
              </a:ext>
            </a:extLst>
          </p:cNvPr>
          <p:cNvSpPr txBox="1"/>
          <p:nvPr/>
        </p:nvSpPr>
        <p:spPr>
          <a:xfrm>
            <a:off x="406400" y="1585503"/>
            <a:ext cx="6045200" cy="3177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200" b="1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A. GAMBARAN UMUM DAN PERKEMBANGAN SITUASI </a:t>
            </a:r>
            <a:endParaRPr lang="id-ID" sz="1200" b="1" dirty="0">
              <a:solidFill>
                <a:srgbClr val="011E41"/>
              </a:solidFill>
              <a:effectLst/>
              <a:latin typeface="DIN Pro Black" panose="020B0A04020101010102" pitchFamily="34" charset="0"/>
              <a:ea typeface="Calibri" panose="020F0502020204030204" pitchFamily="34" charset="0"/>
              <a:cs typeface="DIN Pro Black" panose="020B0A04020101010102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Banjir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bandang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dipicu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hujan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ekstrem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selama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5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hari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berturut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–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turut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pada 26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Februari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s/d 1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Maret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2026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dengan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akumulasi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420 mm di Hulu Sungai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Padangsawit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. Pada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tanggal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1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Maret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pukul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18:00 WIB,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tinggi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muka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air Hulu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mencapai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380 cm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diatas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normal. Pada 2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Maret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pukul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05:30 WIB,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tanggul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utama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Sungai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Padangsawit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jebol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di 3 (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tiga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)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titik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di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desa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Tirtawangi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,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Kecamatan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Tengah Barat,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lalu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mendorong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banjir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ke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wilayah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hilir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, Tengah dan Selatan.  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BMKG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telah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mengeluarkan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peringatan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kuning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, orange dan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merah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sebelum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kejadian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.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Sistem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peringatan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dini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tersedia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,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tetapi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efektivitas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diseminasi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ke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Masyarakat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masih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perlu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dievaluasi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.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Prediksi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curah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hujan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tambahan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220 mm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dalam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48 jam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meningkatkan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Risiko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banjir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susulan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,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terutama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karena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tnggul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masih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labil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dan air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bergerak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kea rah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Padangsawit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Selatan.  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Kondisi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lapangan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utama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: Sungai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belum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surut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di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Wanasari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,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Padasari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dan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Cisomang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;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rumah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panggung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di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padangsari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,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Mekarsari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dan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Citaringgul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banyak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runtuh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;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jalan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retak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parah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di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Cisomang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,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Cibodas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dan Tengah Timur.  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Risiko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sekunder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: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retakan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tanah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5 – 10 cm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dibeberapa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akses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Desa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,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indikasi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longsor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sekunder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, Sebagian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sekolah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retak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,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listrik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padam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atau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bergantung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pada genset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rumah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tangga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.  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Genangan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terdalam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versi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PMI Cabang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Hilir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: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Sumberalas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lebih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dari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2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mter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,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Tirtawangi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lebih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dari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1,8 meter,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Padangsari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lebih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dari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1,8 meter, Padang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Hilir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lebih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dari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1,7 meter dan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bantarbaru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lebih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dari</a:t>
            </a:r>
            <a:r>
              <a:rPr lang="en-US" sz="900" dirty="0">
                <a:effectLst/>
                <a:latin typeface="Poppins Medium" panose="00000600000000000000" pitchFamily="2" charset="0"/>
                <a:ea typeface="Calibri" panose="020F0502020204030204" pitchFamily="34" charset="0"/>
                <a:cs typeface="Poppins Medium" panose="00000600000000000000" pitchFamily="2" charset="0"/>
              </a:rPr>
              <a:t> 1,6 meter.</a:t>
            </a:r>
          </a:p>
        </p:txBody>
      </p:sp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DF5E0EC0-F34C-43FF-B351-295555572E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406531"/>
              </p:ext>
            </p:extLst>
          </p:nvPr>
        </p:nvGraphicFramePr>
        <p:xfrm>
          <a:off x="406400" y="6638724"/>
          <a:ext cx="6045200" cy="247123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222375">
                  <a:extLst>
                    <a:ext uri="{9D8B030D-6E8A-4147-A177-3AD203B41FA5}">
                      <a16:colId xmlns:a16="http://schemas.microsoft.com/office/drawing/2014/main" val="777692597"/>
                    </a:ext>
                  </a:extLst>
                </a:gridCol>
                <a:gridCol w="4822825">
                  <a:extLst>
                    <a:ext uri="{9D8B030D-6E8A-4147-A177-3AD203B41FA5}">
                      <a16:colId xmlns:a16="http://schemas.microsoft.com/office/drawing/2014/main" val="3513760083"/>
                    </a:ext>
                  </a:extLst>
                </a:gridCol>
              </a:tblGrid>
              <a:tr h="3335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 err="1">
                          <a:solidFill>
                            <a:schemeClr val="bg1"/>
                          </a:solidFill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Komponen</a:t>
                      </a:r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 </a:t>
                      </a:r>
                      <a:endParaRPr lang="en-US" sz="800" b="1" i="0" u="none" strike="noStrike" dirty="0">
                        <a:solidFill>
                          <a:schemeClr val="bg1"/>
                        </a:solidFill>
                        <a:effectLst/>
                        <a:latin typeface="Poppins Medium" panose="00000600000000000000" pitchFamily="2" charset="0"/>
                        <a:cs typeface="Poppins Medium" panose="00000600000000000000" pitchFamily="2" charset="0"/>
                      </a:endParaRPr>
                    </a:p>
                  </a:txBody>
                  <a:tcPr marL="9204" marR="9204" marT="920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33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u="none" strike="noStrike" dirty="0" err="1">
                          <a:solidFill>
                            <a:schemeClr val="bg1"/>
                          </a:solidFill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Ringkasan</a:t>
                      </a:r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 </a:t>
                      </a:r>
                      <a:r>
                        <a:rPr lang="en-US" sz="800" b="1" u="none" strike="noStrike" dirty="0" err="1">
                          <a:solidFill>
                            <a:schemeClr val="bg1"/>
                          </a:solidFill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informasi</a:t>
                      </a:r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 </a:t>
                      </a:r>
                      <a:r>
                        <a:rPr lang="en-US" sz="800" b="1" u="none" strike="noStrike" dirty="0" err="1">
                          <a:solidFill>
                            <a:schemeClr val="bg1"/>
                          </a:solidFill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kunci</a:t>
                      </a:r>
                      <a:r>
                        <a:rPr lang="en-US" sz="800" b="1" u="none" strike="noStrike" dirty="0">
                          <a:solidFill>
                            <a:schemeClr val="bg1"/>
                          </a:solidFill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  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Poppins Medium" panose="00000600000000000000" pitchFamily="2" charset="0"/>
                        <a:cs typeface="Poppins Medium" panose="00000600000000000000" pitchFamily="2" charset="0"/>
                      </a:endParaRPr>
                    </a:p>
                  </a:txBody>
                  <a:tcPr marL="9204" marR="9204" marT="9204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3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22614"/>
                  </a:ext>
                </a:extLst>
              </a:tr>
              <a:tr h="155144">
                <a:tc rowSpan="3">
                  <a:txBody>
                    <a:bodyPr/>
                    <a:lstStyle/>
                    <a:p>
                      <a:pPr marL="114300" indent="0" algn="l" fontAlgn="ctr"/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Pemerintah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 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Poppins Medium" panose="00000600000000000000" pitchFamily="2" charset="0"/>
                        <a:cs typeface="Poppins Medium" panose="00000600000000000000" pitchFamily="2" charset="0"/>
                      </a:endParaRPr>
                    </a:p>
                  </a:txBody>
                  <a:tcPr marL="9204" marR="9204" marT="9204" marB="441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0" indent="0" algn="l" fontAlgn="ctr"/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1. BPBD </a:t>
                      </a:r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Provinsi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 </a:t>
                      </a:r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mengerahkan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 142 </a:t>
                      </a:r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personel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,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Poppins Medium" panose="00000600000000000000" pitchFamily="2" charset="0"/>
                        <a:cs typeface="Poppins Medium" panose="00000600000000000000" pitchFamily="2" charset="0"/>
                      </a:endParaRPr>
                    </a:p>
                  </a:txBody>
                  <a:tcPr marL="9204" marR="9204" marT="9204" marB="441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4180120"/>
                  </a:ext>
                </a:extLst>
              </a:tr>
              <a:tr h="1551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7150" indent="0" algn="l" fontAlgn="ctr"/>
                      <a:r>
                        <a:rPr lang="sv-SE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2. Layanan dapur umum, paket logistik, pelayanan Kesehatan  </a:t>
                      </a:r>
                      <a:endParaRPr lang="sv-SE" sz="800" b="0" i="0" u="none" strike="noStrike" dirty="0">
                        <a:solidFill>
                          <a:srgbClr val="000000"/>
                        </a:solidFill>
                        <a:effectLst/>
                        <a:latin typeface="Poppins Medium" panose="00000600000000000000" pitchFamily="2" charset="0"/>
                        <a:cs typeface="Poppins Medium" panose="00000600000000000000" pitchFamily="2" charset="0"/>
                      </a:endParaRPr>
                    </a:p>
                  </a:txBody>
                  <a:tcPr marL="9204" marR="9204" marT="9204" marB="441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5693804"/>
                  </a:ext>
                </a:extLst>
              </a:tr>
              <a:tr h="1551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7150" indent="0"/>
                      <a:r>
                        <a:rPr lang="en-ID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3. </a:t>
                      </a:r>
                      <a:r>
                        <a:rPr lang="en-ID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Evakuasi</a:t>
                      </a:r>
                      <a:r>
                        <a:rPr lang="en-ID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   </a:t>
                      </a:r>
                      <a:endParaRPr lang="en-US" sz="1000" dirty="0">
                        <a:latin typeface="Poppins Medium" panose="00000600000000000000" pitchFamily="2" charset="0"/>
                        <a:cs typeface="Poppins Medium" panose="00000600000000000000" pitchFamily="2" charset="0"/>
                      </a:endParaRPr>
                    </a:p>
                  </a:txBody>
                  <a:tcPr marL="9204" marR="9204" marT="9204" marB="441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5845959"/>
                  </a:ext>
                </a:extLst>
              </a:tr>
              <a:tr h="155144">
                <a:tc rowSpan="4">
                  <a:txBody>
                    <a:bodyPr/>
                    <a:lstStyle/>
                    <a:p>
                      <a:pPr marL="114300" indent="0" algn="l" fontAlgn="ctr"/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PMI 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Poppins Medium" panose="00000600000000000000" pitchFamily="2" charset="0"/>
                        <a:cs typeface="Poppins Medium" panose="00000600000000000000" pitchFamily="2" charset="0"/>
                      </a:endParaRPr>
                    </a:p>
                  </a:txBody>
                  <a:tcPr marL="9204" marR="9204" marT="9204" marB="441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0" indent="0" algn="l" fontAlgn="ctr"/>
                      <a:r>
                        <a:rPr lang="nl-NL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1. Mobilisasi SDM (5 Staf dan 42 Relawan)  </a:t>
                      </a:r>
                      <a:endParaRPr lang="nl-NL" sz="800" b="0" i="0" u="none" strike="noStrike" dirty="0">
                        <a:solidFill>
                          <a:srgbClr val="000000"/>
                        </a:solidFill>
                        <a:effectLst/>
                        <a:latin typeface="Poppins Medium" panose="00000600000000000000" pitchFamily="2" charset="0"/>
                        <a:cs typeface="Poppins Medium" panose="00000600000000000000" pitchFamily="2" charset="0"/>
                      </a:endParaRPr>
                    </a:p>
                  </a:txBody>
                  <a:tcPr marL="9204" marR="9204" marT="9204" marB="441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7298196"/>
                  </a:ext>
                </a:extLst>
              </a:tr>
              <a:tr h="1551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7150" indent="0" algn="l" fontAlgn="ctr"/>
                      <a:r>
                        <a:rPr lang="en-ID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2. </a:t>
                      </a:r>
                      <a:r>
                        <a:rPr lang="en-ID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Evakuasi</a:t>
                      </a:r>
                      <a:r>
                        <a:rPr lang="en-ID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 korban  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Poppins Medium" panose="00000600000000000000" pitchFamily="2" charset="0"/>
                        <a:cs typeface="Poppins Medium" panose="00000600000000000000" pitchFamily="2" charset="0"/>
                      </a:endParaRPr>
                    </a:p>
                  </a:txBody>
                  <a:tcPr marL="9204" marR="9204" marT="9204" marB="441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3943275"/>
                  </a:ext>
                </a:extLst>
              </a:tr>
              <a:tr h="1551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7150" indent="0" algn="l" fontAlgn="ctr"/>
                      <a:r>
                        <a:rPr lang="en-ID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3. </a:t>
                      </a:r>
                      <a:r>
                        <a:rPr lang="en-ID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Layanan</a:t>
                      </a:r>
                      <a:r>
                        <a:rPr lang="en-ID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 </a:t>
                      </a:r>
                      <a:r>
                        <a:rPr lang="en-ID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dapur</a:t>
                      </a:r>
                      <a:r>
                        <a:rPr lang="en-ID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 </a:t>
                      </a:r>
                      <a:r>
                        <a:rPr lang="en-ID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umum</a:t>
                      </a:r>
                      <a:r>
                        <a:rPr lang="en-ID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, </a:t>
                      </a:r>
                      <a:r>
                        <a:rPr lang="en-ID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tim</a:t>
                      </a:r>
                      <a:r>
                        <a:rPr lang="en-ID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 </a:t>
                      </a:r>
                      <a:r>
                        <a:rPr lang="en-ID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pelayanan</a:t>
                      </a:r>
                      <a:r>
                        <a:rPr lang="en-ID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 Kesehatan </a:t>
                      </a:r>
                      <a:endParaRPr lang="en-ID" sz="800" b="0" i="0" u="none" strike="noStrike" dirty="0">
                        <a:solidFill>
                          <a:srgbClr val="000000"/>
                        </a:solidFill>
                        <a:effectLst/>
                        <a:latin typeface="Poppins Medium" panose="00000600000000000000" pitchFamily="2" charset="0"/>
                        <a:cs typeface="Poppins Medium" panose="00000600000000000000" pitchFamily="2" charset="0"/>
                      </a:endParaRPr>
                    </a:p>
                  </a:txBody>
                  <a:tcPr marL="9204" marR="9204" marT="9204" marB="441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6769923"/>
                  </a:ext>
                </a:extLst>
              </a:tr>
              <a:tr h="15514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7150" indent="0"/>
                      <a:r>
                        <a:rPr lang="en-ID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4. </a:t>
                      </a:r>
                      <a:r>
                        <a:rPr lang="en-ID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Pendirian</a:t>
                      </a:r>
                      <a:r>
                        <a:rPr lang="en-ID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 posko   </a:t>
                      </a:r>
                      <a:endParaRPr lang="en-US" sz="1000" dirty="0">
                        <a:latin typeface="Poppins Medium" panose="00000600000000000000" pitchFamily="2" charset="0"/>
                        <a:cs typeface="Poppins Medium" panose="00000600000000000000" pitchFamily="2" charset="0"/>
                      </a:endParaRPr>
                    </a:p>
                  </a:txBody>
                  <a:tcPr marL="9204" marR="9204" marT="9204" marB="441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336643"/>
                  </a:ext>
                </a:extLst>
              </a:tr>
              <a:tr h="194167">
                <a:tc rowSpan="3">
                  <a:txBody>
                    <a:bodyPr/>
                    <a:lstStyle/>
                    <a:p>
                      <a:pPr marL="57150" indent="0" algn="l" fontAlgn="ctr"/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Mitra </a:t>
                      </a:r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kemanusiaan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 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Poppins Medium" panose="00000600000000000000" pitchFamily="2" charset="0"/>
                        <a:cs typeface="Poppins Medium" panose="00000600000000000000" pitchFamily="2" charset="0"/>
                      </a:endParaRPr>
                    </a:p>
                  </a:txBody>
                  <a:tcPr marL="9204" marR="9204" marT="9204" marB="441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0" indent="0" algn="l" fontAlgn="ctr"/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1. IFRC </a:t>
                      </a:r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mengeluarkan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 Preliminary Emergency Appeal CHF 1.650.000 </a:t>
                      </a:r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untuk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 15.000 orang </a:t>
                      </a:r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selama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 90 </a:t>
                      </a:r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hari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. 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Poppins Medium" panose="00000600000000000000" pitchFamily="2" charset="0"/>
                        <a:cs typeface="Poppins Medium" panose="00000600000000000000" pitchFamily="2" charset="0"/>
                      </a:endParaRPr>
                    </a:p>
                  </a:txBody>
                  <a:tcPr marL="9204" marR="9204" marT="9204" marB="441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6889094"/>
                  </a:ext>
                </a:extLst>
              </a:tr>
              <a:tr h="2775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7150" indent="0" algn="l" fontAlgn="ctr"/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2. WASH &amp; Shelter Cluster </a:t>
                      </a:r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melakukan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 </a:t>
                      </a:r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rapat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 </a:t>
                      </a:r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koordinasi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 14 </a:t>
                      </a:r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organisasi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. UNICEF, World Vision, Plan International, Caritas, Habitat, BAZNAS, Oxfam, CWS, dan IOM </a:t>
                      </a:r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berada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 pada </a:t>
                      </a:r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fase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 </a:t>
                      </a:r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mobilisasi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 </a:t>
                      </a:r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awal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. 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Poppins Medium" panose="00000600000000000000" pitchFamily="2" charset="0"/>
                        <a:cs typeface="Poppins Medium" panose="00000600000000000000" pitchFamily="2" charset="0"/>
                      </a:endParaRPr>
                    </a:p>
                  </a:txBody>
                  <a:tcPr marL="9204" marR="9204" marT="9204" marB="441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214295"/>
                  </a:ext>
                </a:extLst>
              </a:tr>
              <a:tr h="19416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7150" indent="0"/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3. OCHA </a:t>
                      </a:r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merilis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 briefing </a:t>
                      </a:r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hari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 </a:t>
                      </a:r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pertama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 dan MIRA </a:t>
                      </a:r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direncanakan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 3-7 </a:t>
                      </a:r>
                      <a:r>
                        <a:rPr lang="en-US" sz="800" u="none" strike="noStrike" dirty="0" err="1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Maret</a:t>
                      </a:r>
                      <a:r>
                        <a:rPr lang="en-US" sz="800" u="none" strike="noStrike" dirty="0">
                          <a:effectLst/>
                          <a:latin typeface="Poppins Medium" panose="00000600000000000000" pitchFamily="2" charset="0"/>
                          <a:cs typeface="Poppins Medium" panose="00000600000000000000" pitchFamily="2" charset="0"/>
                        </a:rPr>
                        <a:t> 2026.   </a:t>
                      </a:r>
                      <a:endParaRPr lang="en-US" sz="1000" dirty="0">
                        <a:latin typeface="Poppins Medium" panose="00000600000000000000" pitchFamily="2" charset="0"/>
                        <a:cs typeface="Poppins Medium" panose="00000600000000000000" pitchFamily="2" charset="0"/>
                      </a:endParaRPr>
                    </a:p>
                  </a:txBody>
                  <a:tcPr marL="9204" marR="9204" marT="9204" marB="44179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325765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F968ED8-B417-4293-A1A7-59F3F5E57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47" y="4906926"/>
            <a:ext cx="450460" cy="4504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F76368-92EF-45FB-B4B2-9658FD4CAE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110" y="4922832"/>
            <a:ext cx="416736" cy="4167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8750155-63CF-4A6A-A791-1CD54C3996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173" y="4911339"/>
            <a:ext cx="446475" cy="43767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84BF933-08CC-4F4F-806A-309EEED9DB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3236" y="4898999"/>
            <a:ext cx="464441" cy="463996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1D9634B1-E1C6-4D2B-A466-F20CD4A2F450}"/>
              </a:ext>
            </a:extLst>
          </p:cNvPr>
          <p:cNvSpPr txBox="1"/>
          <p:nvPr/>
        </p:nvSpPr>
        <p:spPr>
          <a:xfrm>
            <a:off x="3484176" y="5354617"/>
            <a:ext cx="155871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000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17.800</a:t>
            </a:r>
          </a:p>
          <a:p>
            <a:pPr algn="ctr"/>
            <a:r>
              <a:rPr lang="en-US" sz="1400" i="1" dirty="0">
                <a:solidFill>
                  <a:srgbClr val="F5333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Jiwa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3E66A76-6C8B-4FB3-B346-6E40E97C9529}"/>
              </a:ext>
            </a:extLst>
          </p:cNvPr>
          <p:cNvSpPr txBox="1"/>
          <p:nvPr/>
        </p:nvSpPr>
        <p:spPr>
          <a:xfrm>
            <a:off x="5153231" y="5354617"/>
            <a:ext cx="155871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tabLst>
                <a:tab pos="342900" algn="l"/>
              </a:tabLst>
            </a:pPr>
            <a:r>
              <a:rPr lang="en-US" sz="2000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5 : 	</a:t>
            </a:r>
            <a:r>
              <a:rPr lang="en-US" sz="1200" i="1" dirty="0" err="1">
                <a:solidFill>
                  <a:srgbClr val="F5333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Kab</a:t>
            </a:r>
            <a:r>
              <a:rPr lang="en-US" sz="1200" i="1" dirty="0">
                <a:solidFill>
                  <a:srgbClr val="F5333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-Kota</a:t>
            </a:r>
            <a:endParaRPr lang="en-US" sz="1400" i="1" dirty="0">
              <a:solidFill>
                <a:srgbClr val="F5333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2000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11:</a:t>
            </a:r>
            <a:r>
              <a:rPr lang="en-US" sz="1400" i="1" dirty="0">
                <a:solidFill>
                  <a:srgbClr val="011E41"/>
                </a:solidFill>
                <a:latin typeface="DIN Pro Black" panose="020B0A04020101010102" pitchFamily="34" charset="0"/>
                <a:cs typeface="DIN Pro Black" panose="020B0A04020101010102" pitchFamily="34" charset="0"/>
              </a:rPr>
              <a:t>  	</a:t>
            </a:r>
            <a:r>
              <a:rPr lang="en-US" sz="1200" i="1" dirty="0" err="1">
                <a:solidFill>
                  <a:srgbClr val="F5333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Kecamatan</a:t>
            </a:r>
            <a:endParaRPr lang="en-US" sz="1200" i="1" dirty="0">
              <a:solidFill>
                <a:srgbClr val="F5333F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38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F0E89B-13A1-4C3A-A495-B18051518C51}"/>
              </a:ext>
            </a:extLst>
          </p:cNvPr>
          <p:cNvSpPr/>
          <p:nvPr/>
        </p:nvSpPr>
        <p:spPr>
          <a:xfrm>
            <a:off x="0" y="-1"/>
            <a:ext cx="6858000" cy="35623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BBED04-3EEF-4446-A428-86EE7EF05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0" y="-1"/>
            <a:ext cx="6763500" cy="53632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2CD259-D926-6B03-6889-0DD1AE3C9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37" y="5404122"/>
            <a:ext cx="5867326" cy="33242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07F79E-D0DA-603C-1BFE-B9C91895E67D}"/>
              </a:ext>
            </a:extLst>
          </p:cNvPr>
          <p:cNvSpPr txBox="1"/>
          <p:nvPr/>
        </p:nvSpPr>
        <p:spPr>
          <a:xfrm>
            <a:off x="495337" y="8769193"/>
            <a:ext cx="5867326" cy="796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05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US" sz="105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5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kebencanaan</a:t>
            </a:r>
            <a:r>
              <a:rPr lang="en-US" sz="105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5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banjir</a:t>
            </a:r>
            <a:r>
              <a:rPr lang="en-US" sz="105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5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bandang</a:t>
            </a:r>
            <a:r>
              <a:rPr lang="en-US" sz="105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US" sz="105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Provinsi</a:t>
            </a:r>
            <a:r>
              <a:rPr lang="en-US" sz="105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5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Padangsawit</a:t>
            </a:r>
            <a:r>
              <a:rPr lang="en-US" sz="105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5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terdapat</a:t>
            </a:r>
            <a:r>
              <a:rPr lang="en-US" sz="1050" dirty="0">
                <a:latin typeface="Poppins Medium" panose="00000600000000000000" pitchFamily="2" charset="0"/>
                <a:cs typeface="Poppins Medium" panose="00000600000000000000" pitchFamily="2" charset="0"/>
              </a:rPr>
              <a:t> 3 (</a:t>
            </a:r>
            <a:r>
              <a:rPr lang="en-US" sz="105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tiga</a:t>
            </a:r>
            <a:r>
              <a:rPr lang="en-US" sz="1050" dirty="0">
                <a:latin typeface="Poppins Medium" panose="00000600000000000000" pitchFamily="2" charset="0"/>
                <a:cs typeface="Poppins Medium" panose="00000600000000000000" pitchFamily="2" charset="0"/>
              </a:rPr>
              <a:t>) </a:t>
            </a:r>
            <a:r>
              <a:rPr lang="en-US" sz="105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Kecamatan</a:t>
            </a:r>
            <a:r>
              <a:rPr lang="en-US" sz="105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z="105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terdampak</a:t>
            </a:r>
            <a:r>
              <a:rPr lang="en-US" sz="105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5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parah</a:t>
            </a:r>
            <a:r>
              <a:rPr lang="en-US" sz="105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5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yaitu</a:t>
            </a:r>
            <a:r>
              <a:rPr lang="en-US" sz="105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5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Kecamatan</a:t>
            </a:r>
            <a:r>
              <a:rPr lang="en-US" sz="105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5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Wanasari</a:t>
            </a:r>
            <a:r>
              <a:rPr lang="en-US" sz="105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z="105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Anggadita</a:t>
            </a:r>
            <a:r>
              <a:rPr lang="en-US" sz="105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US" sz="105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Mekarjati</a:t>
            </a:r>
            <a:r>
              <a:rPr lang="en-US" sz="105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endParaRPr lang="en-ID" sz="105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49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D3C0C-07CA-AA63-5772-4350E3047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8205F16-BF0D-A1D4-CB41-F80ECCAE011B}"/>
              </a:ext>
            </a:extLst>
          </p:cNvPr>
          <p:cNvSpPr/>
          <p:nvPr/>
        </p:nvSpPr>
        <p:spPr>
          <a:xfrm>
            <a:off x="0" y="0"/>
            <a:ext cx="6858000" cy="35864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D66156-9008-7553-76AA-0F2D02E684B0}"/>
              </a:ext>
            </a:extLst>
          </p:cNvPr>
          <p:cNvSpPr/>
          <p:nvPr/>
        </p:nvSpPr>
        <p:spPr>
          <a:xfrm>
            <a:off x="0" y="6319510"/>
            <a:ext cx="6858000" cy="358649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C6129B-EF36-5DDA-1FEF-3B5503C4F0F1}"/>
              </a:ext>
            </a:extLst>
          </p:cNvPr>
          <p:cNvSpPr txBox="1"/>
          <p:nvPr/>
        </p:nvSpPr>
        <p:spPr>
          <a:xfrm>
            <a:off x="243840" y="320479"/>
            <a:ext cx="5277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C. </a:t>
            </a:r>
            <a:r>
              <a:rPr lang="en-US" sz="1400" b="1" dirty="0" err="1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Layanan</a:t>
            </a:r>
            <a:r>
              <a:rPr lang="en-US" sz="1400" b="1" dirty="0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 yang </a:t>
            </a:r>
            <a:r>
              <a:rPr lang="en-US" sz="1400" b="1" dirty="0" err="1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Sudah</a:t>
            </a:r>
            <a:r>
              <a:rPr lang="en-US" sz="1400" b="1" dirty="0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 </a:t>
            </a:r>
            <a:r>
              <a:rPr lang="en-US" sz="1400" b="1" dirty="0" err="1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Dilakukan</a:t>
            </a:r>
            <a:r>
              <a:rPr lang="en-US" sz="1400" b="1" dirty="0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EA2C34-65A3-7FD7-671A-CCC082DB1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" y="921002"/>
            <a:ext cx="4038549" cy="23355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F31A97-C806-094D-7FC9-0E93F85D9B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217" y="3887056"/>
            <a:ext cx="3475387" cy="21318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99996AC-377E-78CE-BE0F-D76211B21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112" b="33315"/>
          <a:stretch>
            <a:fillRect/>
          </a:stretch>
        </p:blipFill>
        <p:spPr>
          <a:xfrm>
            <a:off x="223397" y="6653662"/>
            <a:ext cx="4038549" cy="264477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20814F6-F648-5421-637F-D7A227916AAD}"/>
              </a:ext>
            </a:extLst>
          </p:cNvPr>
          <p:cNvSpPr txBox="1"/>
          <p:nvPr/>
        </p:nvSpPr>
        <p:spPr>
          <a:xfrm>
            <a:off x="4302831" y="1013673"/>
            <a:ext cx="2331771" cy="2150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Layanan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dasar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relatif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merata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ketiga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kecamatan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performa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terbaik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Kecamatan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Wanasari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Ketiga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layanan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dasar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(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kesehatan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, air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bersih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, dan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pangan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)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tingkat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akses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seimbang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setiap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kecamatan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Kecamatan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Mekarjati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akses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paling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terbatas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dibandingkan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dua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kecamatan</a:t>
            </a:r>
            <a:r>
              <a:rPr lang="en-US" sz="9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9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lainnya</a:t>
            </a:r>
            <a:endParaRPr lang="en-ID" sz="9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2415A1-5ED2-AB16-4F17-69FDD6B7312F}"/>
              </a:ext>
            </a:extLst>
          </p:cNvPr>
          <p:cNvSpPr txBox="1"/>
          <p:nvPr/>
        </p:nvSpPr>
        <p:spPr>
          <a:xfrm>
            <a:off x="243840" y="3878988"/>
            <a:ext cx="2638926" cy="2148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Distribusi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seimbang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keempat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kategori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layanan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publik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menunjukkan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bahwa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keseluruhan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infrastruktur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dasar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relatif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merata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setiap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kecamatan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meskipun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Kecamatan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Mekarjati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menunjukkan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kebutuhan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peningkatan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akses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yang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lebih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signifikan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dibandingkan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dua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kecamatan</a:t>
            </a:r>
            <a:r>
              <a:rPr lang="en-US" sz="10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0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lainnya</a:t>
            </a:r>
            <a:endParaRPr lang="en-ID" sz="10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07D6DB-1C20-B977-BF16-984355D142E2}"/>
              </a:ext>
            </a:extLst>
          </p:cNvPr>
          <p:cNvSpPr txBox="1"/>
          <p:nvPr/>
        </p:nvSpPr>
        <p:spPr>
          <a:xfrm>
            <a:off x="4391023" y="6926209"/>
            <a:ext cx="2243579" cy="2099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Kebutuhan</a:t>
            </a:r>
            <a:r>
              <a:rPr lang="en-US" sz="1100" dirty="0">
                <a:latin typeface="Poppins Medium" panose="00000600000000000000" pitchFamily="2" charset="0"/>
                <a:cs typeface="Poppins Medium" panose="00000600000000000000" pitchFamily="2" charset="0"/>
              </a:rPr>
              <a:t> rata – rata pada </a:t>
            </a:r>
            <a:r>
              <a:rPr lang="en-US" sz="11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kebencanaan</a:t>
            </a:r>
            <a:r>
              <a:rPr lang="en-US" sz="11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1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US" sz="11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1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yaitu</a:t>
            </a:r>
            <a:r>
              <a:rPr lang="en-US" sz="11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1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layanan</a:t>
            </a:r>
            <a:r>
              <a:rPr lang="en-US" sz="1100" dirty="0">
                <a:latin typeface="Poppins Medium" panose="00000600000000000000" pitchFamily="2" charset="0"/>
                <a:cs typeface="Poppins Medium" panose="00000600000000000000" pitchFamily="2" charset="0"/>
              </a:rPr>
              <a:t> shelter, Kesehatan dan Wash. </a:t>
            </a:r>
          </a:p>
          <a:p>
            <a:pPr>
              <a:lnSpc>
                <a:spcPct val="150000"/>
              </a:lnSpc>
            </a:pPr>
            <a:r>
              <a:rPr lang="en-US" sz="1100" dirty="0">
                <a:latin typeface="Poppins Medium" panose="00000600000000000000" pitchFamily="2" charset="0"/>
                <a:cs typeface="Poppins Medium" panose="00000600000000000000" pitchFamily="2" charset="0"/>
              </a:rPr>
              <a:t>Dan pada </a:t>
            </a:r>
            <a:r>
              <a:rPr lang="en-US" sz="11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Kecamatan</a:t>
            </a:r>
            <a:r>
              <a:rPr lang="en-US" sz="11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1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terdampak</a:t>
            </a:r>
            <a:r>
              <a:rPr lang="en-US" sz="11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1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parah</a:t>
            </a:r>
            <a:r>
              <a:rPr lang="en-US" sz="1100" dirty="0">
                <a:latin typeface="Poppins Medium" panose="00000600000000000000" pitchFamily="2" charset="0"/>
                <a:cs typeface="Poppins Medium" panose="00000600000000000000" pitchFamily="2" charset="0"/>
              </a:rPr>
              <a:t> sangat </a:t>
            </a:r>
            <a:r>
              <a:rPr lang="en-US" sz="11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membutuhkn</a:t>
            </a:r>
            <a:r>
              <a:rPr lang="en-US" sz="11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US" sz="11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layanan</a:t>
            </a:r>
            <a:r>
              <a:rPr lang="en-US" sz="1100" dirty="0">
                <a:latin typeface="Poppins Medium" panose="00000600000000000000" pitchFamily="2" charset="0"/>
                <a:cs typeface="Poppins Medium" panose="00000600000000000000" pitchFamily="2" charset="0"/>
              </a:rPr>
              <a:t> Kesehatan. </a:t>
            </a:r>
            <a:endParaRPr lang="en-ID" sz="11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868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126AA-11DF-D674-2467-491858C1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ADCF97-A8A2-98C0-48C0-0C1B18F968CB}"/>
              </a:ext>
            </a:extLst>
          </p:cNvPr>
          <p:cNvSpPr/>
          <p:nvPr/>
        </p:nvSpPr>
        <p:spPr>
          <a:xfrm>
            <a:off x="-1" y="-148841"/>
            <a:ext cx="6858000" cy="279893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70564F-3E26-4800-A201-4703A9714A76}"/>
              </a:ext>
            </a:extLst>
          </p:cNvPr>
          <p:cNvSpPr/>
          <p:nvPr/>
        </p:nvSpPr>
        <p:spPr>
          <a:xfrm>
            <a:off x="-1" y="5440952"/>
            <a:ext cx="6858000" cy="39316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7538BC3A-96DF-A57F-0F1E-EDD47B511F2F}"/>
              </a:ext>
            </a:extLst>
          </p:cNvPr>
          <p:cNvSpPr txBox="1">
            <a:spLocks/>
          </p:cNvSpPr>
          <p:nvPr/>
        </p:nvSpPr>
        <p:spPr>
          <a:xfrm>
            <a:off x="328061" y="186103"/>
            <a:ext cx="6201878" cy="2463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D. </a:t>
            </a:r>
            <a:r>
              <a:rPr lang="en-US" sz="1600" b="1" dirty="0" err="1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Kebutuhan</a:t>
            </a:r>
            <a:r>
              <a:rPr lang="en-US" sz="1600" b="1" dirty="0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 Yang </a:t>
            </a:r>
            <a:r>
              <a:rPr lang="en-US" sz="1600" b="1" dirty="0" err="1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Dibutuhkan</a:t>
            </a:r>
            <a:r>
              <a:rPr lang="en-US" sz="1600" b="1" dirty="0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 Saat </a:t>
            </a:r>
            <a:r>
              <a:rPr lang="en-US" sz="1600" b="1" dirty="0" err="1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ini</a:t>
            </a:r>
            <a:r>
              <a:rPr lang="en-US" sz="1600" b="1" dirty="0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 </a:t>
            </a:r>
          </a:p>
          <a:p>
            <a:pPr marL="457200" lvl="0" indent="-180975" algn="l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Wash 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  <a:sym typeface="Wingdings" panose="05000000000000000000" pitchFamily="2" charset="2"/>
              </a:rPr>
              <a:t> 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tangka air, latrine emergency, hygiene kit, PHBS, dignity kit </a:t>
            </a:r>
            <a:endParaRPr lang="en-ID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180975" algn="l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Shelter / Non Food Item 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  <a:sym typeface="Wingdings" panose="05000000000000000000" pitchFamily="2" charset="2"/>
              </a:rPr>
              <a:t>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shelter toolkits </a:t>
            </a:r>
            <a:endParaRPr lang="en-ID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180975" algn="l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Food Item</a:t>
            </a:r>
            <a:endParaRPr lang="en-ID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180975" algn="l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Kesehatan 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  <a:sym typeface="Wingdings" panose="05000000000000000000" pitchFamily="2" charset="2"/>
              </a:rPr>
              <a:t>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mobile clinic, emergency kit </a:t>
            </a:r>
            <a:endParaRPr lang="en-ID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180975" algn="l">
              <a:lnSpc>
                <a:spcPct val="150000"/>
              </a:lnSpc>
              <a:buFont typeface="+mj-lt"/>
              <a:buAutoNum type="arabicPeriod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Akses 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  <a:sym typeface="Wingdings" panose="05000000000000000000" pitchFamily="2" charset="2"/>
              </a:rPr>
              <a:t>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perahu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penyebrangan,genset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posko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n-ID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C28346A-3910-632A-1F2D-198E2F9FFDA0}"/>
              </a:ext>
            </a:extLst>
          </p:cNvPr>
          <p:cNvSpPr txBox="1">
            <a:spLocks/>
          </p:cNvSpPr>
          <p:nvPr/>
        </p:nvSpPr>
        <p:spPr>
          <a:xfrm>
            <a:off x="370172" y="2776881"/>
            <a:ext cx="3100939" cy="24639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D. </a:t>
            </a:r>
            <a:r>
              <a:rPr lang="en-US" sz="1400" b="1" dirty="0" err="1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Rekomendasi</a:t>
            </a:r>
            <a:endParaRPr lang="en-US" sz="1400" b="1" dirty="0">
              <a:solidFill>
                <a:srgbClr val="011E41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  <a:p>
            <a:pPr marL="228600" lvl="0" algn="l">
              <a:lnSpc>
                <a:spcPct val="120000"/>
              </a:lnSpc>
            </a:pP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Internal PMI </a:t>
            </a:r>
            <a:r>
              <a:rPr lang="en-US" sz="1200" b="1" dirty="0" err="1">
                <a:latin typeface="Poppins" panose="00000500000000000000" pitchFamily="2" charset="0"/>
                <a:cs typeface="Poppins" panose="00000500000000000000" pitchFamily="2" charset="0"/>
              </a:rPr>
              <a:t>Provinsi</a:t>
            </a: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1" dirty="0" err="1">
                <a:latin typeface="Poppins" panose="00000500000000000000" pitchFamily="2" charset="0"/>
                <a:cs typeface="Poppins" panose="00000500000000000000" pitchFamily="2" charset="0"/>
              </a:rPr>
              <a:t>Padangsawit</a:t>
            </a: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n-ID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28600" algn="l">
              <a:lnSpc>
                <a:spcPct val="120000"/>
              </a:lnSpc>
              <a:buFont typeface="+mj-lt"/>
              <a:buAutoNum type="arabicPeriod"/>
            </a:pP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Infografis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n-ID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28600" algn="l">
              <a:lnSpc>
                <a:spcPct val="120000"/>
              </a:lnSpc>
              <a:buFont typeface="+mj-lt"/>
              <a:buAutoNum type="arabicPeriod"/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Form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rekap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data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dampak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n-ID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28600" algn="l">
              <a:lnSpc>
                <a:spcPct val="120000"/>
              </a:lnSpc>
              <a:buFont typeface="+mj-lt"/>
              <a:buAutoNum type="arabicPeriod"/>
            </a:pP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Pendirian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posko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lapangan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n-ID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28600" algn="l">
              <a:lnSpc>
                <a:spcPct val="120000"/>
              </a:lnSpc>
              <a:buFont typeface="+mj-lt"/>
              <a:buAutoNum type="arabicPeriod"/>
            </a:pP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Menunjuk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vocal point /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juru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bicara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penyampaian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informasi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/ update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informasi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n-ID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864A08-5E46-D7DE-EF1C-F465355DE351}"/>
              </a:ext>
            </a:extLst>
          </p:cNvPr>
          <p:cNvSpPr txBox="1">
            <a:spLocks/>
          </p:cNvSpPr>
          <p:nvPr/>
        </p:nvSpPr>
        <p:spPr>
          <a:xfrm>
            <a:off x="285949" y="5641006"/>
            <a:ext cx="6286099" cy="35315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E</a:t>
            </a:r>
            <a:r>
              <a:rPr lang="en-US" sz="1400" dirty="0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. </a:t>
            </a:r>
            <a:r>
              <a:rPr lang="en-US" sz="1400" b="1" dirty="0" err="1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Rekomendasi</a:t>
            </a:r>
            <a:r>
              <a:rPr lang="en-US" sz="1400" b="1" dirty="0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 </a:t>
            </a:r>
            <a:r>
              <a:rPr lang="en-US" sz="1400" b="1" dirty="0" err="1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Mobilisasi</a:t>
            </a:r>
            <a:r>
              <a:rPr lang="en-US" sz="1400" b="1" dirty="0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 </a:t>
            </a:r>
            <a:r>
              <a:rPr lang="en-US" sz="1400" b="1" dirty="0" err="1">
                <a:solidFill>
                  <a:srgbClr val="011E41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Relawan</a:t>
            </a:r>
            <a:endParaRPr lang="en-US" sz="1400" b="1" dirty="0">
              <a:solidFill>
                <a:srgbClr val="011E41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  <a:p>
            <a:pPr marL="228600" algn="l">
              <a:lnSpc>
                <a:spcPct val="120000"/>
              </a:lnSpc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Adapun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rekomendasi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untuk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pembagian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penugasan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relawan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akan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dimobilisasi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sebanyak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150 orang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sebagaimaan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berikut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ini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: </a:t>
            </a:r>
            <a:endParaRPr lang="en-ID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28600" algn="l">
              <a:lnSpc>
                <a:spcPct val="120000"/>
              </a:lnSpc>
              <a:buFont typeface="+mj-lt"/>
              <a:buAutoNum type="arabicPeriod"/>
            </a:pP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Kecamatan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Wanasari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terdapat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terdapat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layanan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WASH,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distribusi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food item dan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layanan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Kesehatan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total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relawan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akan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dimobilisasi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sebanyak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54 orang. </a:t>
            </a:r>
            <a:endParaRPr lang="en-ID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28600" algn="l">
              <a:lnSpc>
                <a:spcPct val="120000"/>
              </a:lnSpc>
              <a:buFont typeface="+mj-lt"/>
              <a:buAutoNum type="arabicPeriod"/>
            </a:pP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Kecamatan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Anggadita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terdapat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terdapat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layanan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WASH,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distribusi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food item dan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layanan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Kesehatan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total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relawan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akan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dimobilisasi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sebanyak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53 orang. </a:t>
            </a:r>
            <a:endParaRPr lang="en-ID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lvl="0" indent="-228600" algn="l">
              <a:lnSpc>
                <a:spcPct val="120000"/>
              </a:lnSpc>
              <a:buFont typeface="+mj-lt"/>
              <a:buAutoNum type="arabicPeriod"/>
            </a:pP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Kecamatan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Mekarjati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terdapat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terdapat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layanan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WASH,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distribusi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food item dan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layanan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Kesehatan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total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relawan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akan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dimobilisasi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sebanyak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43 orang. </a:t>
            </a:r>
            <a:endParaRPr lang="en-ID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457200" indent="-228600" algn="l">
              <a:lnSpc>
                <a:spcPct val="120000"/>
              </a:lnSpc>
            </a:pP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Adapun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rincian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bembagian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personal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sebagaimana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lampiran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. </a:t>
            </a: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n-ID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2E9E07D-C302-C808-D2E1-0717F41543D6}"/>
              </a:ext>
            </a:extLst>
          </p:cNvPr>
          <p:cNvSpPr txBox="1">
            <a:spLocks/>
          </p:cNvSpPr>
          <p:nvPr/>
        </p:nvSpPr>
        <p:spPr>
          <a:xfrm>
            <a:off x="3671236" y="3120714"/>
            <a:ext cx="2681939" cy="21201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Luar PMI </a:t>
            </a:r>
            <a:r>
              <a:rPr lang="en-US" sz="1200" b="1" dirty="0" err="1">
                <a:latin typeface="Poppins" panose="00000500000000000000" pitchFamily="2" charset="0"/>
                <a:cs typeface="Poppins" panose="00000500000000000000" pitchFamily="2" charset="0"/>
              </a:rPr>
              <a:t>Provinsi</a:t>
            </a: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b="1" dirty="0" err="1">
                <a:latin typeface="Poppins" panose="00000500000000000000" pitchFamily="2" charset="0"/>
                <a:cs typeface="Poppins" panose="00000500000000000000" pitchFamily="2" charset="0"/>
              </a:rPr>
              <a:t>Padangsawit</a:t>
            </a:r>
            <a:r>
              <a:rPr lang="en-US" sz="12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n-ID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80975" lvl="0" indent="-180975" algn="l">
              <a:lnSpc>
                <a:spcPct val="120000"/>
              </a:lnSpc>
              <a:buFont typeface="+mj-lt"/>
              <a:buAutoNum type="arabicPeriod"/>
            </a:pP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Aktifasi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layanan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mobile clinic di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beberapa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wilayah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terdampak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n-ID" sz="12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80975" lvl="0" indent="-180975" algn="l">
              <a:lnSpc>
                <a:spcPct val="120000"/>
              </a:lnSpc>
              <a:buFont typeface="+mj-lt"/>
              <a:buAutoNum type="arabicPeriod"/>
            </a:pP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Melakukan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prioritas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layanan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distribusi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Wash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ke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3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kecamatan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terdampak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200" dirty="0" err="1">
                <a:latin typeface="Poppins" panose="00000500000000000000" pitchFamily="2" charset="0"/>
                <a:cs typeface="Poppins" panose="00000500000000000000" pitchFamily="2" charset="0"/>
              </a:rPr>
              <a:t>parah</a:t>
            </a:r>
            <a:r>
              <a:rPr lang="en-US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n-ID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309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F03C79A3BA1940912EA30E560E5CC3" ma:contentTypeVersion="9" ma:contentTypeDescription="Create a new document." ma:contentTypeScope="" ma:versionID="06c380ffbb68c5547f5c9a1b43248f23">
  <xsd:schema xmlns:xsd="http://www.w3.org/2001/XMLSchema" xmlns:xs="http://www.w3.org/2001/XMLSchema" xmlns:p="http://schemas.microsoft.com/office/2006/metadata/properties" xmlns:ns2="df0fdac8-6588-4055-8e95-b0973495c38d" targetNamespace="http://schemas.microsoft.com/office/2006/metadata/properties" ma:root="true" ma:fieldsID="39bfe6dc2ed1660c67bd97305f86c085" ns2:_="">
    <xsd:import namespace="df0fdac8-6588-4055-8e95-b0973495c3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0fdac8-6588-4055-8e95-b0973495c3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52d3b34-b2f6-4b64-b160-b58f615bdc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f0fdac8-6588-4055-8e95-b0973495c38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474A78-5DD8-41FC-952F-64FC8D5E45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0fdac8-6588-4055-8e95-b0973495c38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8A032F1-31DD-4AAA-8476-E166C8FEE657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terms/"/>
    <ds:schemaRef ds:uri="df0fdac8-6588-4055-8e95-b0973495c38d"/>
    <ds:schemaRef ds:uri="http://schemas.microsoft.com/office/infopath/2007/PartnerControls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E245B729-A7F3-4042-83C1-CB4C543132B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605</TotalTime>
  <Words>754</Words>
  <Application>Microsoft Office PowerPoint</Application>
  <PresentationFormat>A4 Paper (210x297 mm)</PresentationFormat>
  <Paragraphs>71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4" baseType="lpstr">
      <vt:lpstr>Arial</vt:lpstr>
      <vt:lpstr>Calibri</vt:lpstr>
      <vt:lpstr>Calibri Light</vt:lpstr>
      <vt:lpstr>D-DIN-PRO Medium</vt:lpstr>
      <vt:lpstr>DIN Pro Black</vt:lpstr>
      <vt:lpstr>Poppins</vt:lpstr>
      <vt:lpstr>Poppins ExtraBold</vt:lpstr>
      <vt:lpstr>Poppins Medium</vt:lpstr>
      <vt:lpstr>Symbol</vt:lpstr>
      <vt:lpstr>Office Theme</vt:lpstr>
      <vt:lpstr>SITUASION REPORT (SITREP) BANJIR BANDANG  PROVINSI PADANGSAWIT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SITUASION REPORT (SITREP) BANJIR BANDANG  PROVINSI PADANGSAWIT</dc:title>
  <dc:creator>posko sulsel</dc:creator>
  <cp:lastModifiedBy>posko sulsel</cp:lastModifiedBy>
  <cp:revision>29</cp:revision>
  <dcterms:created xsi:type="dcterms:W3CDTF">2026-06-04T12:55:35Z</dcterms:created>
  <dcterms:modified xsi:type="dcterms:W3CDTF">2026-06-05T06:36:19Z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0x01010068F03C79A3BA1940912EA30E560E5CC3</vt:lpwstr>
  </property>
</Properties>
</file>